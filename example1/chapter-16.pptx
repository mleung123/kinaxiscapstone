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0" r:id="rId55"/>
    <p:sldId id="311" r:id="rId56"/>
    <p:sldId id="312" r:id="rId57"/>
    <p:sldId id="309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95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5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7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7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5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4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5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12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2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8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3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0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B5481-4AF6-4D16-B280-E23C53433D6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84285-0CDD-4EA2-AF23-CCAAB562D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90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Overcoming the</a:t>
            </a:r>
            <a:b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barriers to supply chain</a:t>
            </a:r>
            <a:b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400800" cy="1752600"/>
          </a:xfrm>
        </p:spPr>
        <p:txBody>
          <a:bodyPr/>
          <a:lstStyle/>
          <a:p>
            <a:r>
              <a:rPr lang="en-US" dirty="0" smtClean="0"/>
              <a:t>Chapter 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Changing Business Landscape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The 21st century has brought: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Increased pace of business change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More volatile markets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Mergers, acquisitions, and new global competition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Customers now demand: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Higher quality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Faster service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Greater flexibility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57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Responsive </a:t>
            </a:r>
            <a:r>
              <a:rPr lang="en-US" b="1" dirty="0" err="1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Organisation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Modern businesses must: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Put the customer at the center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Streamline systems for speed and reliability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Legacy structures: hierarchical, bureaucratic, and slow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De-layering is not enough without network and process reform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607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Building a Logistics Vision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A logistics vision defines: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How logistics creates value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A roadmap for supply chain transformation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Must reflect: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Competitive capabilities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Core differentiators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Customer value priorities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77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Defining Customer Value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lnSpc>
                <a:spcPct val="260000"/>
              </a:lnSpc>
            </a:pPr>
            <a:r>
              <a:rPr lang="en-US" dirty="0" smtClean="0"/>
              <a:t>Four key components of logistics value:</a:t>
            </a:r>
          </a:p>
          <a:p>
            <a:pPr marL="514350" indent="-514350">
              <a:lnSpc>
                <a:spcPct val="260000"/>
              </a:lnSpc>
              <a:buFont typeface="+mj-lt"/>
              <a:buAutoNum type="arabicPeriod"/>
            </a:pPr>
            <a:r>
              <a:rPr lang="en-US" b="1" dirty="0" smtClean="0"/>
              <a:t>Better</a:t>
            </a:r>
            <a:r>
              <a:rPr lang="en-US" dirty="0" smtClean="0"/>
              <a:t> – superior quality/service</a:t>
            </a:r>
          </a:p>
          <a:p>
            <a:pPr marL="514350" indent="-514350">
              <a:lnSpc>
                <a:spcPct val="260000"/>
              </a:lnSpc>
              <a:buFont typeface="+mj-lt"/>
              <a:buAutoNum type="arabicPeriod"/>
            </a:pPr>
            <a:r>
              <a:rPr lang="en-US" b="1" dirty="0" smtClean="0"/>
              <a:t>Faster</a:t>
            </a:r>
            <a:r>
              <a:rPr lang="en-US" dirty="0" smtClean="0"/>
              <a:t> – reduced lead times</a:t>
            </a:r>
          </a:p>
          <a:p>
            <a:pPr marL="514350" indent="-514350">
              <a:lnSpc>
                <a:spcPct val="260000"/>
              </a:lnSpc>
              <a:buFont typeface="+mj-lt"/>
              <a:buAutoNum type="arabicPeriod"/>
            </a:pPr>
            <a:r>
              <a:rPr lang="en-US" b="1" dirty="0" smtClean="0"/>
              <a:t>Cheaper</a:t>
            </a:r>
            <a:r>
              <a:rPr lang="en-US" dirty="0" smtClean="0"/>
              <a:t> – cost-effective delivery</a:t>
            </a:r>
          </a:p>
          <a:p>
            <a:pPr marL="514350" indent="-514350">
              <a:lnSpc>
                <a:spcPct val="260000"/>
              </a:lnSpc>
              <a:buFont typeface="+mj-lt"/>
              <a:buAutoNum type="arabicPeriod"/>
            </a:pPr>
            <a:r>
              <a:rPr lang="en-US" b="1" dirty="0" smtClean="0"/>
              <a:t>Closer</a:t>
            </a:r>
            <a:r>
              <a:rPr lang="en-US" dirty="0" smtClean="0"/>
              <a:t> – responsiveness to customer needs</a:t>
            </a:r>
          </a:p>
        </p:txBody>
      </p:sp>
    </p:spTree>
    <p:extLst>
      <p:ext uri="{BB962C8B-B14F-4D97-AF65-F5344CB8AC3E}">
        <p14:creationId xmlns:p14="http://schemas.microsoft.com/office/powerpoint/2010/main" val="358516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Organizational Structure is the Main Barrier?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300000"/>
              </a:lnSpc>
            </a:pPr>
            <a:r>
              <a:rPr lang="en-US" dirty="0" smtClean="0"/>
              <a:t>Functional silos dominate conventional </a:t>
            </a:r>
            <a:r>
              <a:rPr lang="en-US" dirty="0" err="1" smtClean="0"/>
              <a:t>organisations</a:t>
            </a:r>
            <a:endParaRPr lang="en-US" dirty="0" smtClean="0"/>
          </a:p>
          <a:p>
            <a:pPr>
              <a:lnSpc>
                <a:spcPct val="300000"/>
              </a:lnSpc>
            </a:pPr>
            <a:r>
              <a:rPr lang="en-US" dirty="0" smtClean="0"/>
              <a:t>Structures are rigid and resist change</a:t>
            </a:r>
          </a:p>
          <a:p>
            <a:pPr>
              <a:lnSpc>
                <a:spcPct val="300000"/>
              </a:lnSpc>
            </a:pPr>
            <a:r>
              <a:rPr lang="en-US" dirty="0" smtClean="0"/>
              <a:t>Need for a </a:t>
            </a:r>
            <a:r>
              <a:rPr lang="en-US" b="1" dirty="0" smtClean="0"/>
              <a:t>paradigm shift</a:t>
            </a:r>
            <a:r>
              <a:rPr lang="en-US" dirty="0" smtClean="0"/>
              <a:t> in business thinking</a:t>
            </a:r>
          </a:p>
          <a:p>
            <a:pPr>
              <a:lnSpc>
                <a:spcPct val="3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815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11855"/>
            <a:ext cx="8229600" cy="3102653"/>
          </a:xfrm>
        </p:spPr>
      </p:pic>
    </p:spTree>
    <p:extLst>
      <p:ext uri="{BB962C8B-B14F-4D97-AF65-F5344CB8AC3E}">
        <p14:creationId xmlns:p14="http://schemas.microsoft.com/office/powerpoint/2010/main" val="213282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Problem with Vertical Structures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50000"/>
              </a:lnSpc>
            </a:pPr>
            <a:r>
              <a:rPr lang="en-US" dirty="0" err="1" smtClean="0"/>
              <a:t>Organised</a:t>
            </a:r>
            <a:r>
              <a:rPr lang="en-US" dirty="0" smtClean="0"/>
              <a:t> by function: purchasing, production, sales, etc.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Managers protect their domains (“barons”)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Functional budget control hinders cross-functional efficiency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028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Sub-</a:t>
            </a:r>
            <a:r>
              <a:rPr lang="en-US" b="1" dirty="0" err="1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Optimisation</a:t>
            </a: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 Functional Boundaries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20000"/>
              </a:lnSpc>
            </a:pPr>
            <a:r>
              <a:rPr lang="en-US" dirty="0" smtClean="0"/>
              <a:t>Functions try to </a:t>
            </a:r>
            <a:r>
              <a:rPr lang="en-US" dirty="0" err="1" smtClean="0"/>
              <a:t>optimise</a:t>
            </a:r>
            <a:r>
              <a:rPr lang="en-US" dirty="0" smtClean="0"/>
              <a:t> individually, causing: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Inventory build-up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Longer cycle times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Poor coordination</a:t>
            </a:r>
          </a:p>
          <a:p>
            <a:pPr>
              <a:lnSpc>
                <a:spcPct val="220000"/>
              </a:lnSpc>
            </a:pPr>
            <a:r>
              <a:rPr lang="en-US" dirty="0" smtClean="0"/>
              <a:t>Example: bulk purchasing = cost saving, but = excess inventory</a:t>
            </a:r>
          </a:p>
          <a:p>
            <a:pPr>
              <a:lnSpc>
                <a:spcPct val="2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386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 Conceals Demand Signals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310000"/>
              </a:lnSpc>
            </a:pPr>
            <a:r>
              <a:rPr lang="en-US" dirty="0" smtClean="0"/>
              <a:t>Inventory across functions distorts visibility of true demand</a:t>
            </a:r>
          </a:p>
          <a:p>
            <a:pPr>
              <a:lnSpc>
                <a:spcPct val="310000"/>
              </a:lnSpc>
            </a:pPr>
            <a:r>
              <a:rPr lang="en-US" dirty="0" smtClean="0"/>
              <a:t>Upstream teams respond to reorder points, not market signals</a:t>
            </a:r>
          </a:p>
          <a:p>
            <a:pPr>
              <a:lnSpc>
                <a:spcPct val="310000"/>
              </a:lnSpc>
            </a:pPr>
            <a:r>
              <a:rPr lang="en-US" dirty="0" smtClean="0"/>
              <a:t>Leads to misalignment in production and procurement</a:t>
            </a:r>
          </a:p>
          <a:p>
            <a:pPr>
              <a:lnSpc>
                <a:spcPct val="3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804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81496"/>
            <a:ext cx="8229600" cy="2963370"/>
          </a:xfrm>
        </p:spPr>
      </p:pic>
    </p:spTree>
    <p:extLst>
      <p:ext uri="{BB962C8B-B14F-4D97-AF65-F5344CB8AC3E}">
        <p14:creationId xmlns:p14="http://schemas.microsoft.com/office/powerpoint/2010/main" val="2641963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Lack of Cost Transparency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60000"/>
              </a:lnSpc>
            </a:pPr>
            <a:r>
              <a:rPr lang="en-US" dirty="0" smtClean="0"/>
              <a:t>traditional accounting tracks </a:t>
            </a:r>
            <a:r>
              <a:rPr lang="en-US" b="1" dirty="0" smtClean="0"/>
              <a:t>inputs</a:t>
            </a:r>
            <a:r>
              <a:rPr lang="en-US" dirty="0" smtClean="0"/>
              <a:t>, not </a:t>
            </a:r>
            <a:r>
              <a:rPr lang="en-US" b="1" dirty="0" smtClean="0"/>
              <a:t>outcomes</a:t>
            </a:r>
            <a:endParaRPr lang="en-US" dirty="0" smtClean="0"/>
          </a:p>
          <a:p>
            <a:pPr>
              <a:lnSpc>
                <a:spcPct val="260000"/>
              </a:lnSpc>
            </a:pPr>
            <a:r>
              <a:rPr lang="en-US" dirty="0" smtClean="0"/>
              <a:t>Functional cost centres obscure full supply chain cost</a:t>
            </a:r>
          </a:p>
          <a:p>
            <a:pPr>
              <a:lnSpc>
                <a:spcPct val="260000"/>
              </a:lnSpc>
            </a:pPr>
            <a:r>
              <a:rPr lang="en-US" dirty="0" smtClean="0"/>
              <a:t>Need for tools like:</a:t>
            </a:r>
          </a:p>
          <a:p>
            <a:pPr lvl="1">
              <a:lnSpc>
                <a:spcPct val="260000"/>
              </a:lnSpc>
            </a:pPr>
            <a:r>
              <a:rPr lang="en-US" b="1" dirty="0" smtClean="0"/>
              <a:t>Activity-Based Costing (ABC)</a:t>
            </a:r>
            <a:endParaRPr lang="en-US" dirty="0" smtClean="0"/>
          </a:p>
          <a:p>
            <a:pPr lvl="1">
              <a:lnSpc>
                <a:spcPct val="260000"/>
              </a:lnSpc>
            </a:pPr>
            <a:r>
              <a:rPr lang="en-US" b="1" dirty="0" smtClean="0"/>
              <a:t>Throughput Accounting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98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" y="1905794"/>
            <a:ext cx="7743825" cy="3914775"/>
          </a:xfrm>
        </p:spPr>
      </p:pic>
    </p:spTree>
    <p:extLst>
      <p:ext uri="{BB962C8B-B14F-4D97-AF65-F5344CB8AC3E}">
        <p14:creationId xmlns:p14="http://schemas.microsoft.com/office/powerpoint/2010/main" val="2841065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Example – Delivery Cost Variance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50000"/>
              </a:lnSpc>
            </a:pPr>
            <a:r>
              <a:rPr lang="en-US" dirty="0" smtClean="0"/>
              <a:t>Same transport cost looks equal on paper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In reality: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Large DC delivery = low cost per unit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Remote, low-volume delivery = higher cost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These differences are often hidden in aggregate reports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388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Functional Barriers Damage Customer Service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20000"/>
              </a:lnSpc>
            </a:pPr>
            <a:r>
              <a:rPr lang="en-US" dirty="0" smtClean="0"/>
              <a:t>Order-to-delivery = fragmented process</a:t>
            </a:r>
          </a:p>
          <a:p>
            <a:pPr>
              <a:lnSpc>
                <a:spcPct val="220000"/>
              </a:lnSpc>
            </a:pPr>
            <a:r>
              <a:rPr lang="en-US" dirty="0" smtClean="0"/>
              <a:t>Sequential, not integrated</a:t>
            </a:r>
          </a:p>
          <a:p>
            <a:pPr>
              <a:lnSpc>
                <a:spcPct val="220000"/>
              </a:lnSpc>
            </a:pPr>
            <a:r>
              <a:rPr lang="en-US" dirty="0" smtClean="0"/>
              <a:t>Causes: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Delays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Errors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Inefficiencies</a:t>
            </a:r>
          </a:p>
          <a:p>
            <a:pPr>
              <a:lnSpc>
                <a:spcPct val="2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937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Relay Race Problem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 flows sequentially: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Sales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Credit check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Planning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Production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Shipping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Invoicing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Each handoff = delay &amp; disconnect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216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37437"/>
            <a:ext cx="8229600" cy="4251488"/>
          </a:xfrm>
        </p:spPr>
      </p:pic>
    </p:spTree>
    <p:extLst>
      <p:ext uri="{BB962C8B-B14F-4D97-AF65-F5344CB8AC3E}">
        <p14:creationId xmlns:p14="http://schemas.microsoft.com/office/powerpoint/2010/main" val="3593152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Single Face to the Customer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70000"/>
              </a:lnSpc>
            </a:pPr>
            <a:r>
              <a:rPr lang="en-US" dirty="0" smtClean="0"/>
              <a:t>Customers deal with multiple departments</a:t>
            </a:r>
          </a:p>
          <a:p>
            <a:pPr>
              <a:lnSpc>
                <a:spcPct val="270000"/>
              </a:lnSpc>
            </a:pPr>
            <a:r>
              <a:rPr lang="en-US" dirty="0" smtClean="0"/>
              <a:t>No one owns the full customer experience</a:t>
            </a:r>
          </a:p>
          <a:p>
            <a:pPr>
              <a:lnSpc>
                <a:spcPct val="270000"/>
              </a:lnSpc>
            </a:pPr>
            <a:r>
              <a:rPr lang="en-US" dirty="0" smtClean="0"/>
              <a:t>Leads to:</a:t>
            </a:r>
          </a:p>
          <a:p>
            <a:pPr lvl="1">
              <a:lnSpc>
                <a:spcPct val="270000"/>
              </a:lnSpc>
            </a:pPr>
            <a:r>
              <a:rPr lang="en-US" dirty="0" smtClean="0"/>
              <a:t>Frustration</a:t>
            </a:r>
          </a:p>
          <a:p>
            <a:pPr lvl="1">
              <a:lnSpc>
                <a:spcPct val="270000"/>
              </a:lnSpc>
            </a:pPr>
            <a:r>
              <a:rPr lang="en-US" dirty="0" smtClean="0"/>
              <a:t>Inconsistent service</a:t>
            </a:r>
          </a:p>
          <a:p>
            <a:pPr>
              <a:lnSpc>
                <a:spcPct val="2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739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Structural Reform – From Vertical to Horizontal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2400" dirty="0" smtClean="0"/>
              <a:t>Add logistics “on top” ≠ true integration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True solution: horizontal, process-driven </a:t>
            </a:r>
            <a:r>
              <a:rPr lang="en-US" sz="2400" dirty="0" err="1" smtClean="0"/>
              <a:t>organisation</a:t>
            </a:r>
            <a:endParaRPr lang="en-US" sz="2400" dirty="0" smtClean="0"/>
          </a:p>
          <a:p>
            <a:pPr>
              <a:lnSpc>
                <a:spcPct val="3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7757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16.5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51" y="1600200"/>
            <a:ext cx="6770898" cy="4525963"/>
          </a:xfrm>
        </p:spPr>
      </p:pic>
    </p:spTree>
    <p:extLst>
      <p:ext uri="{BB962C8B-B14F-4D97-AF65-F5344CB8AC3E}">
        <p14:creationId xmlns:p14="http://schemas.microsoft.com/office/powerpoint/2010/main" val="1934006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6" y="1600200"/>
            <a:ext cx="7747288" cy="4525963"/>
          </a:xfrm>
        </p:spPr>
      </p:pic>
    </p:spTree>
    <p:extLst>
      <p:ext uri="{BB962C8B-B14F-4D97-AF65-F5344CB8AC3E}">
        <p14:creationId xmlns:p14="http://schemas.microsoft.com/office/powerpoint/2010/main" val="63603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Features of Horizontal Organisations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2400" dirty="0" err="1" smtClean="0"/>
              <a:t>Organised</a:t>
            </a:r>
            <a:r>
              <a:rPr lang="en-US" sz="2400" dirty="0" smtClean="0"/>
              <a:t> around </a:t>
            </a:r>
            <a:r>
              <a:rPr lang="en-US" sz="2400" b="1" dirty="0" smtClean="0"/>
              <a:t>end-to-end processes</a:t>
            </a:r>
            <a:endParaRPr lang="en-US" sz="2400" dirty="0" smtClean="0"/>
          </a:p>
          <a:p>
            <a:pPr>
              <a:lnSpc>
                <a:spcPct val="300000"/>
              </a:lnSpc>
            </a:pPr>
            <a:r>
              <a:rPr lang="en-US" sz="2400" dirty="0" smtClean="0"/>
              <a:t>Flat hierarchy, cross-functional teams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Driven by market-based metrics, not departmental inputs</a:t>
            </a:r>
          </a:p>
          <a:p>
            <a:pPr>
              <a:lnSpc>
                <a:spcPct val="3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935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Core Business Processes (Examples)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lang="en-US" sz="2400" dirty="0" smtClean="0"/>
              <a:t>Innovation</a:t>
            </a:r>
          </a:p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lang="en-US" sz="2400" dirty="0" smtClean="0"/>
              <a:t>Consumer development</a:t>
            </a:r>
          </a:p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lang="en-US" sz="2400" dirty="0" smtClean="0"/>
              <a:t>Customer management</a:t>
            </a:r>
          </a:p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lang="en-US" sz="2400" dirty="0" smtClean="0"/>
              <a:t>Supplier development</a:t>
            </a:r>
          </a:p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lang="en-US" sz="2400" dirty="0" smtClean="0"/>
              <a:t>Supply chain management</a:t>
            </a:r>
          </a:p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2563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Functions to Teams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 smtClean="0"/>
              <a:t>Traditional functions become </a:t>
            </a:r>
            <a:r>
              <a:rPr lang="en-US" sz="2400" b="1" dirty="0" smtClean="0"/>
              <a:t>centres of excellence</a:t>
            </a:r>
            <a:endParaRPr lang="en-US" sz="2400" dirty="0" smtClean="0"/>
          </a:p>
          <a:p>
            <a:pPr>
              <a:lnSpc>
                <a:spcPct val="200000"/>
              </a:lnSpc>
            </a:pPr>
            <a:r>
              <a:rPr lang="en-US" sz="2400" dirty="0" smtClean="0"/>
              <a:t>Cross-functional teams = process owners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Led by </a:t>
            </a:r>
            <a:r>
              <a:rPr lang="en-US" sz="2400" b="1" dirty="0" smtClean="0"/>
              <a:t>integrators</a:t>
            </a:r>
            <a:r>
              <a:rPr lang="en-US" sz="2400" dirty="0" smtClean="0"/>
              <a:t> focused on customer outcomes</a:t>
            </a:r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0443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Aligning Planning with Execution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220000"/>
              </a:lnSpc>
            </a:pPr>
            <a:r>
              <a:rPr lang="en-US" sz="2400" b="1" dirty="0" smtClean="0"/>
              <a:t>Logistics</a:t>
            </a:r>
            <a:r>
              <a:rPr lang="en-US" sz="2400" dirty="0" smtClean="0"/>
              <a:t> = planning discipline</a:t>
            </a:r>
          </a:p>
          <a:p>
            <a:pPr>
              <a:lnSpc>
                <a:spcPct val="220000"/>
              </a:lnSpc>
            </a:pPr>
            <a:r>
              <a:rPr lang="en-US" sz="2400" b="1" dirty="0" smtClean="0"/>
              <a:t>Links:</a:t>
            </a:r>
          </a:p>
          <a:p>
            <a:pPr lvl="1"/>
            <a:r>
              <a:rPr lang="en-US" sz="2400" dirty="0" smtClean="0"/>
              <a:t>Production plans</a:t>
            </a:r>
          </a:p>
          <a:p>
            <a:pPr lvl="1"/>
            <a:r>
              <a:rPr lang="en-US" sz="2400" dirty="0" smtClean="0"/>
              <a:t>Materials requirements</a:t>
            </a:r>
          </a:p>
          <a:p>
            <a:pPr lvl="1"/>
            <a:r>
              <a:rPr lang="en-US" sz="2400" dirty="0" smtClean="0"/>
              <a:t>Distribution plans</a:t>
            </a:r>
          </a:p>
          <a:p>
            <a:pPr>
              <a:lnSpc>
                <a:spcPct val="220000"/>
              </a:lnSpc>
            </a:pPr>
            <a:r>
              <a:rPr lang="en-US" sz="2400" b="1" dirty="0" smtClean="0"/>
              <a:t>Goal: </a:t>
            </a:r>
            <a:r>
              <a:rPr lang="en-US" sz="2400" dirty="0" smtClean="0"/>
              <a:t>production must align with </a:t>
            </a:r>
            <a:r>
              <a:rPr lang="en-US" sz="2400" b="1" dirty="0" smtClean="0"/>
              <a:t>real</a:t>
            </a:r>
            <a:r>
              <a:rPr lang="en-US" sz="2400" dirty="0" smtClean="0"/>
              <a:t> market demand</a:t>
            </a:r>
          </a:p>
          <a:p>
            <a:pPr>
              <a:lnSpc>
                <a:spcPct val="22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3816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 at the Heart of the Business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400" dirty="0" smtClean="0"/>
              <a:t>All activity must facilitate </a:t>
            </a:r>
            <a:r>
              <a:rPr lang="en-US" sz="2400" b="1" dirty="0" smtClean="0"/>
              <a:t>order </a:t>
            </a:r>
            <a:r>
              <a:rPr lang="en-US" sz="2400" b="1" dirty="0" err="1" smtClean="0"/>
              <a:t>fulfilment</a:t>
            </a:r>
            <a:endParaRPr lang="en-US" sz="2400" dirty="0" smtClean="0"/>
          </a:p>
          <a:p>
            <a:pPr>
              <a:lnSpc>
                <a:spcPct val="250000"/>
              </a:lnSpc>
            </a:pPr>
            <a:r>
              <a:rPr lang="en-US" sz="2400" dirty="0" err="1" smtClean="0"/>
              <a:t>Organisational</a:t>
            </a:r>
            <a:r>
              <a:rPr lang="en-US" sz="2400" dirty="0" smtClean="0"/>
              <a:t> structure must reflect the order flow</a:t>
            </a:r>
          </a:p>
          <a:p>
            <a:pPr>
              <a:lnSpc>
                <a:spcPct val="250000"/>
              </a:lnSpc>
            </a:pPr>
            <a:r>
              <a:rPr lang="en-US" sz="2400" dirty="0" smtClean="0"/>
              <a:t>Planning, control, and IT systems aligned to </a:t>
            </a:r>
            <a:r>
              <a:rPr lang="en-US" sz="2400" dirty="0" err="1" smtClean="0"/>
              <a:t>fulfilment</a:t>
            </a:r>
            <a:endParaRPr lang="en-US" sz="2400" dirty="0" smtClean="0"/>
          </a:p>
          <a:p>
            <a:pPr>
              <a:lnSpc>
                <a:spcPct val="2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9056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Customer Order Management System (COMS)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n-US" b="1" dirty="0" smtClean="0"/>
              <a:t>Integrates:</a:t>
            </a:r>
          </a:p>
          <a:p>
            <a:pPr lvl="1">
              <a:lnSpc>
                <a:spcPct val="120000"/>
              </a:lnSpc>
            </a:pPr>
            <a:r>
              <a:rPr lang="en-US" sz="2600" dirty="0" smtClean="0"/>
              <a:t>Order entry</a:t>
            </a:r>
          </a:p>
          <a:p>
            <a:pPr lvl="1">
              <a:lnSpc>
                <a:spcPct val="120000"/>
              </a:lnSpc>
            </a:pPr>
            <a:r>
              <a:rPr lang="en-US" sz="2600" dirty="0" smtClean="0"/>
              <a:t>Forecasting</a:t>
            </a:r>
          </a:p>
          <a:p>
            <a:pPr lvl="1">
              <a:lnSpc>
                <a:spcPct val="120000"/>
              </a:lnSpc>
            </a:pPr>
            <a:r>
              <a:rPr lang="en-US" sz="2600" dirty="0" smtClean="0"/>
              <a:t>Inventory management</a:t>
            </a:r>
          </a:p>
          <a:p>
            <a:pPr lvl="1">
              <a:lnSpc>
                <a:spcPct val="120000"/>
              </a:lnSpc>
            </a:pPr>
            <a:r>
              <a:rPr lang="en-US" sz="2600" dirty="0" smtClean="0"/>
              <a:t>Production</a:t>
            </a:r>
          </a:p>
          <a:p>
            <a:pPr lvl="1">
              <a:lnSpc>
                <a:spcPct val="120000"/>
              </a:lnSpc>
            </a:pPr>
            <a:r>
              <a:rPr lang="en-US" sz="2600" dirty="0" smtClean="0"/>
              <a:t>Procurement</a:t>
            </a:r>
          </a:p>
          <a:p>
            <a:pPr lvl="1">
              <a:lnSpc>
                <a:spcPct val="120000"/>
              </a:lnSpc>
            </a:pPr>
            <a:r>
              <a:rPr lang="en-US" sz="2600" dirty="0" smtClean="0"/>
              <a:t>Delivery</a:t>
            </a:r>
          </a:p>
          <a:p>
            <a:pPr>
              <a:lnSpc>
                <a:spcPct val="170000"/>
              </a:lnSpc>
            </a:pPr>
            <a:r>
              <a:rPr lang="en-US" b="1" dirty="0" smtClean="0"/>
              <a:t>Input: </a:t>
            </a:r>
            <a:r>
              <a:rPr lang="en-US" sz="2600" dirty="0" smtClean="0"/>
              <a:t>market signals, promotions, price changes</a:t>
            </a:r>
          </a:p>
          <a:p>
            <a:pPr>
              <a:lnSpc>
                <a:spcPct val="170000"/>
              </a:lnSpc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153252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 Fulfillment Teams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300000"/>
              </a:lnSpc>
            </a:pPr>
            <a:r>
              <a:rPr lang="en-US" dirty="0" smtClean="0"/>
              <a:t>Cross-functional “cells” own order cycle</a:t>
            </a:r>
          </a:p>
          <a:p>
            <a:pPr>
              <a:lnSpc>
                <a:spcPct val="300000"/>
              </a:lnSpc>
            </a:pPr>
            <a:r>
              <a:rPr lang="en-US" b="1" dirty="0" smtClean="0"/>
              <a:t>Typically include:</a:t>
            </a:r>
          </a:p>
          <a:p>
            <a:pPr lvl="1">
              <a:lnSpc>
                <a:spcPct val="300000"/>
              </a:lnSpc>
            </a:pPr>
            <a:r>
              <a:rPr lang="en-US" dirty="0" smtClean="0"/>
              <a:t>Sales, credit, planning, logistics, finance</a:t>
            </a:r>
          </a:p>
          <a:p>
            <a:pPr>
              <a:lnSpc>
                <a:spcPct val="300000"/>
              </a:lnSpc>
            </a:pPr>
            <a:r>
              <a:rPr lang="en-US" dirty="0" smtClean="0"/>
              <a:t>Placed together physically for fast coordination</a:t>
            </a:r>
          </a:p>
          <a:p>
            <a:pPr>
              <a:lnSpc>
                <a:spcPct val="3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910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Real-World Examples of Success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b="1" dirty="0" smtClean="0"/>
              <a:t>Ahlstrom</a:t>
            </a:r>
            <a:r>
              <a:rPr lang="en-US" dirty="0" smtClean="0"/>
              <a:t>: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Lead-time reduced: 1 week → 1 day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Variability reduced: 6 weeks → 1 week</a:t>
            </a:r>
          </a:p>
          <a:p>
            <a:pPr>
              <a:lnSpc>
                <a:spcPct val="200000"/>
              </a:lnSpc>
            </a:pPr>
            <a:r>
              <a:rPr lang="en-US" b="1" dirty="0" smtClean="0"/>
              <a:t>Nashua Corporation</a:t>
            </a:r>
            <a:r>
              <a:rPr lang="en-US" dirty="0" smtClean="0"/>
              <a:t>: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Order entry: 8 days → 1 hour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40% space reduction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70% fewer customer claims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4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Manufacturing Cell Model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50000"/>
              </a:lnSpc>
            </a:pPr>
            <a:r>
              <a:rPr lang="en-US" dirty="0" smtClean="0"/>
              <a:t>Model borrowed from lean manufacturing</a:t>
            </a:r>
          </a:p>
          <a:p>
            <a:pPr>
              <a:lnSpc>
                <a:spcPct val="250000"/>
              </a:lnSpc>
            </a:pPr>
            <a:r>
              <a:rPr lang="en-US" b="1" dirty="0" smtClean="0"/>
              <a:t>Key traits: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Parallel execution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Fast handoffs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Collaboration across functions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42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Relay Race to Rugby Team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50000"/>
              </a:lnSpc>
            </a:pPr>
            <a:r>
              <a:rPr lang="en-US" b="1" dirty="0" smtClean="0"/>
              <a:t>Relay race: 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dirty="0" smtClean="0"/>
              <a:t>sequential &amp; dependent</a:t>
            </a:r>
          </a:p>
          <a:p>
            <a:pPr>
              <a:lnSpc>
                <a:spcPct val="250000"/>
              </a:lnSpc>
            </a:pPr>
            <a:r>
              <a:rPr lang="en-US" b="1" dirty="0" smtClean="0"/>
              <a:t>Rugby team: 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dirty="0" smtClean="0"/>
              <a:t>integrated &amp; parallel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Collaboration boosts speed, quality, &amp; service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310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Logistics as the Engine of Transformation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2400" dirty="0" smtClean="0"/>
              <a:t>Traditional orgs = slow, siloed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Global complexity demands agility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Logistics = core driver of change</a:t>
            </a:r>
          </a:p>
          <a:p>
            <a:pPr>
              <a:lnSpc>
                <a:spcPct val="3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3512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Hewlett-Packard Case Study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2400" dirty="0" smtClean="0"/>
              <a:t>Global order management architecture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Shared visibility from order to shipment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Focus on customer-facing processes</a:t>
            </a:r>
          </a:p>
          <a:p>
            <a:pPr>
              <a:lnSpc>
                <a:spcPct val="3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7833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Enables </a:t>
            </a:r>
            <a:r>
              <a:rPr lang="en-US" b="1" dirty="0" err="1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Organisational</a:t>
            </a: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Change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2400" dirty="0" smtClean="0"/>
              <a:t>Information systems shape structure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Market data drives internal activity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Real-time signals = better demand </a:t>
            </a:r>
            <a:r>
              <a:rPr lang="en-US" sz="2400" dirty="0" err="1" smtClean="0"/>
              <a:t>fulfilment</a:t>
            </a:r>
            <a:endParaRPr lang="en-US" sz="2400" dirty="0" smtClean="0"/>
          </a:p>
          <a:p>
            <a:pPr>
              <a:lnSpc>
                <a:spcPct val="3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001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Focus on Core Competencies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2400" dirty="0" smtClean="0"/>
              <a:t>Perform only what you do better than others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Outsource the rest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Logistics ensures alignment across all partners</a:t>
            </a:r>
          </a:p>
          <a:p>
            <a:pPr>
              <a:lnSpc>
                <a:spcPct val="3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51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Leadership Must Drive Change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top-down commitment can:</a:t>
            </a:r>
          </a:p>
          <a:p>
            <a:pPr>
              <a:lnSpc>
                <a:spcPct val="250000"/>
              </a:lnSpc>
            </a:pPr>
            <a:r>
              <a:rPr lang="en-US" sz="2400" dirty="0" smtClean="0"/>
              <a:t>Break down silos</a:t>
            </a:r>
          </a:p>
          <a:p>
            <a:pPr>
              <a:lnSpc>
                <a:spcPct val="250000"/>
              </a:lnSpc>
            </a:pPr>
            <a:r>
              <a:rPr lang="en-US" sz="2400" dirty="0" smtClean="0"/>
              <a:t>Reshape structures</a:t>
            </a:r>
          </a:p>
          <a:p>
            <a:pPr>
              <a:lnSpc>
                <a:spcPct val="250000"/>
              </a:lnSpc>
            </a:pPr>
            <a:r>
              <a:rPr lang="en-US" sz="2400" dirty="0" smtClean="0"/>
              <a:t>Ensure logistics-led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1832208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Schneider Electric Transformation (Overview)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2400" dirty="0" smtClean="0"/>
              <a:t>€25B revenue, 183 factories, 14,000 suppliers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Delivered &gt;150,000 order lines/day</a:t>
            </a:r>
          </a:p>
          <a:p>
            <a:pPr>
              <a:lnSpc>
                <a:spcPct val="300000"/>
              </a:lnSpc>
            </a:pPr>
            <a:r>
              <a:rPr lang="en-US" sz="2400" dirty="0" smtClean="0"/>
              <a:t>20-year journey from siloed to customer-driven</a:t>
            </a:r>
          </a:p>
          <a:p>
            <a:pPr>
              <a:lnSpc>
                <a:spcPct val="3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0501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STRIVE Framework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 smtClean="0"/>
              <a:t>S = Sustainable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T = Trusted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R = Resilient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I = Intelligent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V = Velocity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E = Efficiency</a:t>
            </a:r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79978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Segmented Supply Chains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50000"/>
              </a:lnSpc>
            </a:pPr>
            <a:r>
              <a:rPr lang="en-US" b="1" dirty="0" smtClean="0"/>
              <a:t>Based on: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Demand predictability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Customer intimacy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Tailored services &amp; logistics for each customer type</a:t>
            </a:r>
          </a:p>
        </p:txBody>
      </p:sp>
    </p:spTree>
    <p:extLst>
      <p:ext uri="{BB962C8B-B14F-4D97-AF65-F5344CB8AC3E}">
        <p14:creationId xmlns:p14="http://schemas.microsoft.com/office/powerpoint/2010/main" val="2759234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Driving Engagement through Change Management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tools used: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Workshops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Presentations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Digital communications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Training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281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Measurable Results from Transformation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20000"/>
              </a:lnSpc>
            </a:pPr>
            <a:r>
              <a:rPr lang="en-US" dirty="0" smtClean="0"/>
              <a:t>Improved “perfect order” rate</a:t>
            </a:r>
          </a:p>
          <a:p>
            <a:pPr>
              <a:lnSpc>
                <a:spcPct val="220000"/>
              </a:lnSpc>
            </a:pPr>
            <a:r>
              <a:rPr lang="en-US" dirty="0" smtClean="0"/>
              <a:t>Cost savings</a:t>
            </a:r>
          </a:p>
          <a:p>
            <a:pPr>
              <a:lnSpc>
                <a:spcPct val="220000"/>
              </a:lnSpc>
            </a:pPr>
            <a:r>
              <a:rPr lang="en-US" b="1" dirty="0" smtClean="0"/>
              <a:t>Gartner (2021):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#1 in Europe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#4 worldwide</a:t>
            </a:r>
          </a:p>
          <a:p>
            <a:pPr>
              <a:lnSpc>
                <a:spcPct val="220000"/>
              </a:lnSpc>
            </a:pPr>
            <a:r>
              <a:rPr lang="en-US" dirty="0" smtClean="0"/>
              <a:t>Net-zero factory targets by 2025</a:t>
            </a:r>
          </a:p>
          <a:p>
            <a:pPr>
              <a:lnSpc>
                <a:spcPct val="2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5435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Schneider’s Vision for the Future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 smtClean="0"/>
              <a:t>Stuart Whiting (SVP):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US" i="1" dirty="0" smtClean="0"/>
              <a:t>“Sustainability is a journey of collaboration with our ecosystem.”</a:t>
            </a:r>
          </a:p>
          <a:p>
            <a:pPr>
              <a:lnSpc>
                <a:spcPct val="170000"/>
              </a:lnSpc>
            </a:pPr>
            <a:r>
              <a:rPr lang="en-US" b="1" dirty="0" smtClean="0"/>
              <a:t>Core values:</a:t>
            </a:r>
          </a:p>
          <a:p>
            <a:pPr lvl="1">
              <a:lnSpc>
                <a:spcPct val="170000"/>
              </a:lnSpc>
            </a:pPr>
            <a:r>
              <a:rPr lang="en-US" dirty="0" smtClean="0"/>
              <a:t>Resilience</a:t>
            </a:r>
          </a:p>
          <a:p>
            <a:pPr lvl="1">
              <a:lnSpc>
                <a:spcPct val="170000"/>
              </a:lnSpc>
            </a:pPr>
            <a:r>
              <a:rPr lang="en-US" dirty="0" smtClean="0"/>
              <a:t>Responsible growth</a:t>
            </a:r>
          </a:p>
          <a:p>
            <a:pPr lvl="1">
              <a:lnSpc>
                <a:spcPct val="170000"/>
              </a:lnSpc>
            </a:pPr>
            <a:r>
              <a:rPr lang="en-US" dirty="0" smtClean="0"/>
              <a:t>Stakeholder partnership</a:t>
            </a:r>
          </a:p>
          <a:p>
            <a:pPr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218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Benchmarking as a Performance Tool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50000"/>
              </a:lnSpc>
            </a:pPr>
            <a:r>
              <a:rPr lang="en-US" dirty="0" smtClean="0"/>
              <a:t>Performance = not just internal metrics</a:t>
            </a:r>
          </a:p>
          <a:p>
            <a:pPr>
              <a:lnSpc>
                <a:spcPct val="2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compare against: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Competitors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Industry leaders (best in class)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Customer expectations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7472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Benchmarking – A Strategic Priority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Increasing competition has shifted performance focus: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From internal productivity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To </a:t>
            </a:r>
            <a:r>
              <a:rPr lang="en-US" b="1" dirty="0" smtClean="0"/>
              <a:t>comparative and best-practice performance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Benchmarking evaluates not just what we achieve, but </a:t>
            </a:r>
            <a:r>
              <a:rPr lang="en-US" b="1" dirty="0" smtClean="0"/>
              <a:t>how</a:t>
            </a:r>
            <a:r>
              <a:rPr lang="en-US" dirty="0" smtClean="0"/>
              <a:t> we achieve it, compared to others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8343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Evolution of Performance Measurement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Traditional focus: internal measures (e.g. cost per unit, </a:t>
            </a:r>
            <a:r>
              <a:rPr lang="en-US" dirty="0" err="1" smtClean="0"/>
              <a:t>utilisation</a:t>
            </a:r>
            <a:r>
              <a:rPr lang="en-US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Problem: these lack </a:t>
            </a:r>
            <a:r>
              <a:rPr lang="en-US" b="1" dirty="0" smtClean="0"/>
              <a:t>context</a:t>
            </a:r>
            <a:r>
              <a:rPr lang="en-US" dirty="0" smtClean="0"/>
              <a:t> unless compared against: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Competitor performance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Industry best practices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Customer expectations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1692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Competitive Benchmarking – Key Principles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b="1" dirty="0" smtClean="0"/>
              <a:t>Definition:</a:t>
            </a:r>
            <a:r>
              <a:rPr lang="en-US" dirty="0" smtClean="0"/>
              <a:t> Ongoing comparison of practices, processes, and results with best-in-class </a:t>
            </a:r>
            <a:r>
              <a:rPr lang="en-US" dirty="0" err="1" smtClean="0"/>
              <a:t>organisations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b="1" dirty="0" smtClean="0"/>
              <a:t>Aims to: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Achieve competitive advantage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Drive continuous improvement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Must be linked to </a:t>
            </a:r>
            <a:r>
              <a:rPr lang="en-US" b="1" dirty="0" smtClean="0"/>
              <a:t>customer-perceived value</a:t>
            </a:r>
            <a:endParaRPr lang="en-US" dirty="0" smtClean="0"/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6370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Xerox – A Benchmarking Pioneer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50000"/>
              </a:lnSpc>
            </a:pPr>
            <a:r>
              <a:rPr lang="en-US" sz="2400" dirty="0" smtClean="0"/>
              <a:t>Early adopter in manufacturing, later expanded to all functions</a:t>
            </a:r>
          </a:p>
          <a:p>
            <a:pPr>
              <a:lnSpc>
                <a:spcPct val="250000"/>
              </a:lnSpc>
            </a:pPr>
            <a:r>
              <a:rPr lang="en-US" sz="2400" dirty="0" smtClean="0"/>
              <a:t>Key lesson: </a:t>
            </a:r>
            <a:r>
              <a:rPr lang="en-US" sz="2400" b="1" dirty="0" smtClean="0"/>
              <a:t>Processes</a:t>
            </a:r>
            <a:r>
              <a:rPr lang="en-US" sz="2400" dirty="0" smtClean="0"/>
              <a:t> (not just outputs) are benchmark able</a:t>
            </a:r>
          </a:p>
          <a:p>
            <a:pPr>
              <a:lnSpc>
                <a:spcPct val="250000"/>
              </a:lnSpc>
            </a:pPr>
            <a:r>
              <a:rPr lang="en-US" sz="2400" dirty="0" smtClean="0"/>
              <a:t>Realized: Top performance requires looking </a:t>
            </a:r>
            <a:r>
              <a:rPr lang="en-US" sz="2400" b="1" dirty="0" smtClean="0"/>
              <a:t>beyond competitors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2984225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Broader Benchmarking Scope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50000"/>
              </a:lnSpc>
            </a:pPr>
            <a:r>
              <a:rPr lang="en-US" b="1" dirty="0" smtClean="0"/>
              <a:t>Xerox expanded benchmarking beyond competitors to: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Non-competing firms</a:t>
            </a:r>
          </a:p>
          <a:p>
            <a:pPr lvl="1">
              <a:lnSpc>
                <a:spcPct val="250000"/>
              </a:lnSpc>
            </a:pPr>
            <a:r>
              <a:rPr lang="en-US" dirty="0" smtClean="0"/>
              <a:t>Industry leaders in other sectors</a:t>
            </a:r>
          </a:p>
          <a:p>
            <a:pPr>
              <a:lnSpc>
                <a:spcPct val="250000"/>
              </a:lnSpc>
            </a:pPr>
            <a:r>
              <a:rPr lang="en-US" b="1" dirty="0" smtClean="0"/>
              <a:t>Result: </a:t>
            </a:r>
            <a:r>
              <a:rPr lang="en-US" dirty="0" smtClean="0"/>
              <a:t>Major improvements in productivity, creativity, and quality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282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 of Benchmarking </a:t>
            </a:r>
            <a:b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(Camp’s Framework)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50000"/>
              </a:lnSpc>
            </a:pPr>
            <a:r>
              <a:rPr lang="en-US" dirty="0" smtClean="0"/>
              <a:t>Introduces breakthrough practices from other industries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Encourages open-mindedness and innovation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Reduces resistance to change by external validation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Reveals new technologies or approaches not yet adopted in the industry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6858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SCOR Model </a:t>
            </a:r>
            <a:b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b="1" dirty="0" err="1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Standardised</a:t>
            </a: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Framework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Developed by </a:t>
            </a:r>
            <a:r>
              <a:rPr lang="en-US" b="1" dirty="0" smtClean="0"/>
              <a:t>Supply Chain Council (now ASCM)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Built around 6 core processes: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Plan</a:t>
            </a:r>
            <a:r>
              <a:rPr lang="en-US" dirty="0" smtClean="0"/>
              <a:t> – Forecasting, scheduling, resource alignment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Source</a:t>
            </a:r>
            <a:r>
              <a:rPr lang="en-US" dirty="0" smtClean="0"/>
              <a:t> – Procurement and inbound logistics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Make</a:t>
            </a:r>
            <a:r>
              <a:rPr lang="en-US" dirty="0" smtClean="0"/>
              <a:t> – Manufacturing, production, value creation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Deliver</a:t>
            </a:r>
            <a:r>
              <a:rPr lang="en-US" dirty="0" smtClean="0"/>
              <a:t> – Order management, shipping, distribution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Return</a:t>
            </a:r>
            <a:r>
              <a:rPr lang="en-US" dirty="0" smtClean="0"/>
              <a:t> – Reverse logistics, warranty, recall handling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Enable</a:t>
            </a:r>
            <a:r>
              <a:rPr lang="en-US" dirty="0" smtClean="0"/>
              <a:t> – IT systems, compliance, KPIs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679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SCOR – Scope and Application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50000"/>
              </a:lnSpc>
            </a:pPr>
            <a:r>
              <a:rPr lang="en-US" dirty="0" smtClean="0"/>
              <a:t>✅ Provides a common language for benchmarking logistics operations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 ✅ Useful for comparing across industries and functions 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❌ Focuses on </a:t>
            </a:r>
            <a:r>
              <a:rPr lang="en-US" b="1" dirty="0" smtClean="0"/>
              <a:t>internal efficiency</a:t>
            </a:r>
            <a:r>
              <a:rPr lang="en-US" dirty="0" smtClean="0"/>
              <a:t>, less on inter-firm relationships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9200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GSCF Framework </a:t>
            </a:r>
            <a:b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Strategic Benchmarking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Developed by </a:t>
            </a:r>
            <a:r>
              <a:rPr lang="en-US" b="1" dirty="0" smtClean="0"/>
              <a:t>Douglas Lambert &amp; Global Supply Chain Forum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b="1" dirty="0" smtClean="0"/>
              <a:t>Focuses on: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Supply chain relationship management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Cross-functional and cross-</a:t>
            </a:r>
            <a:r>
              <a:rPr lang="en-US" dirty="0" err="1" smtClean="0"/>
              <a:t>organisational</a:t>
            </a:r>
            <a:r>
              <a:rPr lang="en-US" dirty="0" smtClean="0"/>
              <a:t> partnerships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Complements SCOR by capturing </a:t>
            </a:r>
            <a:r>
              <a:rPr lang="en-US" b="1" dirty="0" smtClean="0"/>
              <a:t>relational and collaborative capabilities</a:t>
            </a:r>
            <a:endParaRPr lang="en-US" dirty="0" smtClean="0"/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922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Towards a Logistics Scorecard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Benchmarking helps define </a:t>
            </a:r>
            <a:r>
              <a:rPr lang="en-US" b="1" dirty="0" smtClean="0"/>
              <a:t>key performance indicators (KPIs)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Too many metrics = confusion; focus on </a:t>
            </a:r>
            <a:r>
              <a:rPr lang="en-US" b="1" dirty="0" smtClean="0"/>
              <a:t>mission-critical drivers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b="1" dirty="0" smtClean="0"/>
              <a:t>Use KPIs to track: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Strategic progress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Process efficiency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Customer experience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6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4-Step Scorecard Construction Framework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en-US" b="1" dirty="0" smtClean="0"/>
              <a:t>Define logistics/supply chain strategy</a:t>
            </a:r>
            <a:r>
              <a:rPr lang="en-US" dirty="0" smtClean="0"/>
              <a:t> – How does it support business objectives?</a:t>
            </a:r>
          </a:p>
          <a:p>
            <a:pPr>
              <a:lnSpc>
                <a:spcPct val="200000"/>
              </a:lnSpc>
            </a:pPr>
            <a:r>
              <a:rPr lang="en-US" b="1" dirty="0" smtClean="0"/>
              <a:t>Identify measurable outcomes</a:t>
            </a:r>
            <a:r>
              <a:rPr lang="en-US" dirty="0" smtClean="0"/>
              <a:t> – Better, Faster, Cheaper, Closer</a:t>
            </a:r>
          </a:p>
          <a:p>
            <a:pPr>
              <a:lnSpc>
                <a:spcPct val="200000"/>
              </a:lnSpc>
            </a:pPr>
            <a:r>
              <a:rPr lang="en-US" b="1" dirty="0" smtClean="0"/>
              <a:t>Map enabling processes</a:t>
            </a:r>
            <a:r>
              <a:rPr lang="en-US" dirty="0" smtClean="0"/>
              <a:t> – Which processes impact these outcomes?</a:t>
            </a:r>
          </a:p>
          <a:p>
            <a:pPr>
              <a:lnSpc>
                <a:spcPct val="200000"/>
              </a:lnSpc>
            </a:pPr>
            <a:r>
              <a:rPr lang="en-US" b="1" dirty="0" smtClean="0"/>
              <a:t>Identify performance drivers</a:t>
            </a:r>
            <a:r>
              <a:rPr lang="en-US" dirty="0" smtClean="0"/>
              <a:t> – What activities drive success?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53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Logistics Scorecard </a:t>
            </a:r>
            <a:b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Linking Metrics to Value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0818379"/>
              </p:ext>
            </p:extLst>
          </p:nvPr>
        </p:nvGraphicFramePr>
        <p:xfrm>
          <a:off x="457200" y="1828800"/>
          <a:ext cx="8229600" cy="38862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/>
                <a:gridCol w="4114800"/>
              </a:tblGrid>
              <a:tr h="699516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 dirty="0"/>
                        <a:t>Strategic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 dirty="0"/>
                        <a:t>Example KPI</a:t>
                      </a:r>
                    </a:p>
                  </a:txBody>
                  <a:tcPr/>
                </a:tc>
              </a:tr>
              <a:tr h="699516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/>
                        <a:t>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 dirty="0"/>
                        <a:t>% of Perfect Order </a:t>
                      </a:r>
                      <a:r>
                        <a:rPr lang="en-US" sz="1800" dirty="0" err="1"/>
                        <a:t>Fulfilment</a:t>
                      </a:r>
                      <a:endParaRPr lang="en-US" sz="1800" dirty="0"/>
                    </a:p>
                  </a:txBody>
                  <a:tcPr/>
                </a:tc>
              </a:tr>
              <a:tr h="699516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 dirty="0"/>
                        <a:t>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 dirty="0"/>
                        <a:t>End-to-End Pipeline Time</a:t>
                      </a:r>
                    </a:p>
                  </a:txBody>
                  <a:tcPr/>
                </a:tc>
              </a:tr>
              <a:tr h="699516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/>
                        <a:t>Cheaper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 dirty="0"/>
                        <a:t>Cost-to-Serve per Order</a:t>
                      </a:r>
                    </a:p>
                  </a:txBody>
                  <a:tcPr/>
                </a:tc>
              </a:tr>
              <a:tr h="699516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/>
                        <a:t>Closer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800" dirty="0"/>
                        <a:t>Customer Retention Rate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5638800"/>
            <a:ext cx="746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Balance internal &amp; external KPIs</a:t>
            </a:r>
          </a:p>
          <a:p>
            <a:pPr algn="ctr"/>
            <a:r>
              <a:rPr lang="en-US" sz="2400" dirty="0" smtClean="0"/>
              <a:t>Align with both </a:t>
            </a:r>
            <a:r>
              <a:rPr lang="en-US" sz="2400" b="1" dirty="0" smtClean="0"/>
              <a:t>market needs</a:t>
            </a:r>
            <a:r>
              <a:rPr lang="en-US" sz="2400" dirty="0" smtClean="0"/>
              <a:t> and </a:t>
            </a:r>
            <a:r>
              <a:rPr lang="en-US" sz="2400" b="1" dirty="0" smtClean="0"/>
              <a:t>operational realities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260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Role of Measurement in Driving Behavior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10000"/>
              </a:lnSpc>
            </a:pPr>
            <a:r>
              <a:rPr lang="en-US" sz="2400" dirty="0" smtClean="0"/>
              <a:t>“What gets measured, gets managed.”</a:t>
            </a:r>
          </a:p>
          <a:p>
            <a:pPr>
              <a:lnSpc>
                <a:spcPct val="210000"/>
              </a:lnSpc>
            </a:pPr>
            <a:r>
              <a:rPr lang="en-US" sz="2400" dirty="0" smtClean="0"/>
              <a:t>Old metrics often promote </a:t>
            </a:r>
            <a:r>
              <a:rPr lang="en-US" sz="2400" b="1" dirty="0" smtClean="0"/>
              <a:t>internal efficiency</a:t>
            </a:r>
            <a:r>
              <a:rPr lang="en-US" sz="2400" dirty="0" smtClean="0"/>
              <a:t> only</a:t>
            </a:r>
          </a:p>
          <a:p>
            <a:pPr>
              <a:lnSpc>
                <a:spcPct val="210000"/>
              </a:lnSpc>
            </a:pPr>
            <a:r>
              <a:rPr lang="en-US" sz="2400" dirty="0" smtClean="0"/>
              <a:t>New metrics must promote:</a:t>
            </a:r>
          </a:p>
          <a:p>
            <a:pPr lvl="1"/>
            <a:r>
              <a:rPr lang="en-US" sz="2000" dirty="0" smtClean="0"/>
              <a:t>Market orientation</a:t>
            </a:r>
          </a:p>
          <a:p>
            <a:pPr lvl="1"/>
            <a:r>
              <a:rPr lang="en-US" sz="2000" dirty="0" smtClean="0"/>
              <a:t>Collaboration</a:t>
            </a:r>
          </a:p>
          <a:p>
            <a:pPr lvl="1"/>
            <a:r>
              <a:rPr lang="en-US" sz="2000" dirty="0" smtClean="0"/>
              <a:t>Flexibility</a:t>
            </a:r>
          </a:p>
          <a:p>
            <a:pPr>
              <a:lnSpc>
                <a:spcPct val="210000"/>
              </a:lnSpc>
            </a:pPr>
            <a:r>
              <a:rPr lang="en-US" sz="2400" dirty="0" smtClean="0"/>
              <a:t>The </a:t>
            </a:r>
            <a:r>
              <a:rPr lang="en-US" sz="2400" b="1" dirty="0" smtClean="0"/>
              <a:t>logistics scorecard</a:t>
            </a:r>
            <a:r>
              <a:rPr lang="en-US" sz="2400" dirty="0" smtClean="0"/>
              <a:t> becomes the </a:t>
            </a:r>
            <a:r>
              <a:rPr lang="en-US" sz="2400" b="1" dirty="0" smtClean="0"/>
              <a:t>engine of change</a:t>
            </a:r>
            <a:endParaRPr lang="en-US" sz="2400" dirty="0" smtClean="0"/>
          </a:p>
          <a:p>
            <a:pPr>
              <a:lnSpc>
                <a:spcPct val="21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452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2844"/>
            <a:ext cx="8229600" cy="3620674"/>
          </a:xfrm>
        </p:spPr>
      </p:pic>
    </p:spTree>
    <p:extLst>
      <p:ext uri="{BB962C8B-B14F-4D97-AF65-F5344CB8AC3E}">
        <p14:creationId xmlns:p14="http://schemas.microsoft.com/office/powerpoint/2010/main" val="363795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1413</Words>
  <Application>Microsoft Office PowerPoint</Application>
  <PresentationFormat>On-screen Show (4:3)</PresentationFormat>
  <Paragraphs>292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Overcoming the barriers to supply chain integration</vt:lpstr>
      <vt:lpstr> A Changing Business Landscape</vt:lpstr>
      <vt:lpstr>The Responsive Organisation</vt:lpstr>
      <vt:lpstr> Building a Logistics Vision</vt:lpstr>
      <vt:lpstr> Defining Customer Value</vt:lpstr>
      <vt:lpstr>Why Organizational Structure is the Main Barrier?</vt:lpstr>
      <vt:lpstr>PowerPoint Presentation</vt:lpstr>
      <vt:lpstr>The Problem with Vertical Structures</vt:lpstr>
      <vt:lpstr>Sub-Optimisation at Functional Boundaries</vt:lpstr>
      <vt:lpstr>Inventory Conceals Demand Signals</vt:lpstr>
      <vt:lpstr>PowerPoint Presentation</vt:lpstr>
      <vt:lpstr>Lack of Cost Transparency</vt:lpstr>
      <vt:lpstr>PowerPoint Presentation</vt:lpstr>
      <vt:lpstr> Example – Delivery Cost Variance</vt:lpstr>
      <vt:lpstr> Functional Barriers Damage Customer Service</vt:lpstr>
      <vt:lpstr> The Relay Race Problem</vt:lpstr>
      <vt:lpstr>PowerPoint Presentation</vt:lpstr>
      <vt:lpstr>No Single Face to the Customer</vt:lpstr>
      <vt:lpstr> Structural Reform – From Vertical to Horizontal</vt:lpstr>
      <vt:lpstr>16.5</vt:lpstr>
      <vt:lpstr>PowerPoint Presentation</vt:lpstr>
      <vt:lpstr> Features of Horizontal Organisations</vt:lpstr>
      <vt:lpstr>Core Business Processes (Examples)</vt:lpstr>
      <vt:lpstr>From Functions to Teams</vt:lpstr>
      <vt:lpstr> Aligning Planning with Execution</vt:lpstr>
      <vt:lpstr>Order at the Heart of the Business</vt:lpstr>
      <vt:lpstr>The Customer Order Management System (COMS)</vt:lpstr>
      <vt:lpstr>Order Fulfillment Teams</vt:lpstr>
      <vt:lpstr>Real-World Examples of Success</vt:lpstr>
      <vt:lpstr>Manufacturing Cell Model</vt:lpstr>
      <vt:lpstr>From Relay Race to Rugby Team</vt:lpstr>
      <vt:lpstr>Logistics as the Engine of Transformation</vt:lpstr>
      <vt:lpstr>Hewlett-Packard Case Study</vt:lpstr>
      <vt:lpstr>IT Enables Organisational Change</vt:lpstr>
      <vt:lpstr>Focus on Core Competencies</vt:lpstr>
      <vt:lpstr>Leadership Must Drive Change</vt:lpstr>
      <vt:lpstr>Schneider Electric Transformation (Overview)</vt:lpstr>
      <vt:lpstr>STRIVE Framework</vt:lpstr>
      <vt:lpstr>Segmented Supply Chains</vt:lpstr>
      <vt:lpstr>Driving Engagement through Change Management</vt:lpstr>
      <vt:lpstr> Measurable Results from Transformation</vt:lpstr>
      <vt:lpstr>Schneider’s Vision for the Future</vt:lpstr>
      <vt:lpstr>Benchmarking as a Performance Tool</vt:lpstr>
      <vt:lpstr>Benchmarking – A Strategic Priority</vt:lpstr>
      <vt:lpstr>Evolution of Performance Measurement</vt:lpstr>
      <vt:lpstr>Competitive Benchmarking – Key Principles</vt:lpstr>
      <vt:lpstr>Xerox – A Benchmarking Pioneer</vt:lpstr>
      <vt:lpstr>Broader Benchmarking Scope</vt:lpstr>
      <vt:lpstr>Benefits of Benchmarking  (Camp’s Framework)</vt:lpstr>
      <vt:lpstr>SCOR Model   A Standardised Framework</vt:lpstr>
      <vt:lpstr>SCOR – Scope and Application</vt:lpstr>
      <vt:lpstr> GSCF Framework  Strategic Benchmarking</vt:lpstr>
      <vt:lpstr>Towards a Logistics Scorecard</vt:lpstr>
      <vt:lpstr>4-Step Scorecard Construction Framework</vt:lpstr>
      <vt:lpstr>Logistics Scorecard  Linking Metrics to Value</vt:lpstr>
      <vt:lpstr> The Role of Measurement in Driving Behavior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Overcoming the barriers to supply chain integration</dc:title>
  <dc:creator>Alarabya</dc:creator>
  <cp:lastModifiedBy>Alarabya</cp:lastModifiedBy>
  <cp:revision>9</cp:revision>
  <dcterms:created xsi:type="dcterms:W3CDTF">2025-05-14T10:06:36Z</dcterms:created>
  <dcterms:modified xsi:type="dcterms:W3CDTF">2025-05-14T18:06:09Z</dcterms:modified>
</cp:coreProperties>
</file>